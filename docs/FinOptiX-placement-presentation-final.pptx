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840ff8fef64722" /><Relationship Type="http://schemas.openxmlformats.org/officeDocument/2006/relationships/extended-properties" Target="/docProps/app.xml" Id="R0159eff241404876" /><Relationship Type="http://schemas.openxmlformats.org/officeDocument/2006/relationships/officeDocument" Target="/ppt/presentation.xml" Id="R9606ec5e8c2142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5dd9b3237a4272"/>
  </p:sldMasterIdLst>
  <p:notesMasterIdLst>
    <p:notesMasterId xmlns:r="http://schemas.openxmlformats.org/officeDocument/2006/relationships" r:id="R4db3762651ed4122"/>
  </p:notesMasterIdLst>
  <p:sldIdLst>
    <p:sldId xmlns:r="http://schemas.openxmlformats.org/officeDocument/2006/relationships" id="256" r:id="Re36eea6ff9f74553"/>
    <p:sldId xmlns:r="http://schemas.openxmlformats.org/officeDocument/2006/relationships" id="257" r:id="R1663569ac4f6433d"/>
    <p:sldId xmlns:r="http://schemas.openxmlformats.org/officeDocument/2006/relationships" id="258" r:id="R51de7e8564f94763"/>
    <p:sldId xmlns:r="http://schemas.openxmlformats.org/officeDocument/2006/relationships" id="259" r:id="Rfec262d36f4f4bdc"/>
    <p:sldId xmlns:r="http://schemas.openxmlformats.org/officeDocument/2006/relationships" id="260" r:id="Rd4994925d1f34bc1"/>
    <p:sldId xmlns:r="http://schemas.openxmlformats.org/officeDocument/2006/relationships" id="261" r:id="Rffad6d19b18944a4"/>
    <p:sldId xmlns:r="http://schemas.openxmlformats.org/officeDocument/2006/relationships" id="262" r:id="R4589cefecf3f49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759af7f02f4f37" /><Relationship Type="http://schemas.openxmlformats.org/officeDocument/2006/relationships/slideMaster" Target="/ppt/slideMasters/slideMaster1.xml" Id="R365dd9b3237a4272" /><Relationship Type="http://schemas.openxmlformats.org/officeDocument/2006/relationships/notesMaster" Target="/ppt/notesMasters/notesMaster1.xml" Id="R4db3762651ed4122" /><Relationship Type="http://schemas.openxmlformats.org/officeDocument/2006/relationships/presProps" Target="/ppt/presProps.xml" Id="Rbd4f117f494746a8" /><Relationship Type="http://schemas.openxmlformats.org/officeDocument/2006/relationships/tableStyles" Target="/ppt/tableStyles.xml" Id="Ra2cf80f9ef3447a4" /><Relationship Type="http://schemas.openxmlformats.org/officeDocument/2006/relationships/slide" Target="/ppt/slides/slide1.xml" Id="Re36eea6ff9f74553" /><Relationship Type="http://schemas.openxmlformats.org/officeDocument/2006/relationships/slide" Target="/ppt/slides/slide2.xml" Id="R1663569ac4f6433d" /><Relationship Type="http://schemas.openxmlformats.org/officeDocument/2006/relationships/slide" Target="/ppt/slides/slide3.xml" Id="R51de7e8564f94763" /><Relationship Type="http://schemas.openxmlformats.org/officeDocument/2006/relationships/slide" Target="/ppt/slides/slide4.xml" Id="Rfec262d36f4f4bdc" /><Relationship Type="http://schemas.openxmlformats.org/officeDocument/2006/relationships/slide" Target="/ppt/slides/slide5.xml" Id="Rd4994925d1f34bc1" /><Relationship Type="http://schemas.openxmlformats.org/officeDocument/2006/relationships/slide" Target="/ppt/slides/slide6.xml" Id="Rffad6d19b18944a4" /><Relationship Type="http://schemas.openxmlformats.org/officeDocument/2006/relationships/slide" Target="/ppt/slides/slide7.xml" Id="R4589cefecf3f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81ea5bba0648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d18d524f743d6" /><Relationship Type="http://schemas.openxmlformats.org/officeDocument/2006/relationships/notesMaster" Target="/ppt/notesMasters/notesMaster1.xml" Id="R8cf0e15ba9c344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484258fa6492c" /><Relationship Type="http://schemas.openxmlformats.org/officeDocument/2006/relationships/notesMaster" Target="/ppt/notesMasters/notesMaster1.xml" Id="R7df7a31b7676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02a3fece7245f6" /><Relationship Type="http://schemas.openxmlformats.org/officeDocument/2006/relationships/notesMaster" Target="/ppt/notesMasters/notesMaster1.xml" Id="Rcc1b0b54f1d1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72522a42a4adb" /><Relationship Type="http://schemas.openxmlformats.org/officeDocument/2006/relationships/notesMaster" Target="/ppt/notesMasters/notesMaster1.xml" Id="R57405564bb4f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6aa3e591c40c3" /><Relationship Type="http://schemas.openxmlformats.org/officeDocument/2006/relationships/notesMaster" Target="/ppt/notesMasters/notesMaster1.xml" Id="R35c7c37a7e8c4b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d1110f838d4b0a" /><Relationship Type="http://schemas.openxmlformats.org/officeDocument/2006/relationships/notesMaster" Target="/ppt/notesMasters/notesMaster1.xml" Id="R1d5d7b2155d049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1b2c1a9d5242f6" /><Relationship Type="http://schemas.openxmlformats.org/officeDocument/2006/relationships/notesMaster" Target="/ppt/notesMasters/notesMaster1.xml" Id="R5680a17226134b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framing: the contribution is the integrated, explainable and risk-aware pre-implementation comparison of cloud optimization actions. The figures in this presentation come from controlled synthetic evaluation and illustrative catalog assumptions.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held-out evaluation, generated by backend/app/evaluation.py. Savings-only and risk-aware ranks use the same 15 feasible alternatives. The risk-aware objective can place a lower-risk action above the largest saving.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implemented as a modular FastAPI application and React client with optional PostgreSQL persistence. RAG is a local TF-IDF index over curated Markdown summaries; external LLM generation is optional and configured through environment variables.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catalog includes provider, region, service, instance type, vCPU, memory, hourly rate, billing assumptions and supported transitions. Simulator uses resource history. Capacity scaling approximates utilization pressure; missing data, p95/peak metrics, criticality, variability, minimum runtime, and price reliability affect risk, confidence or feasibility. Storage assumptions use observed storage headroom.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values and thresholds are documented in backend/catalog/pricing_catalog.json and docs/project-report.md. These scores are transparent heuristics, not statistically validated probabilities. The held-out rank example is generated from the same catalog and candidates.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docs/evaluation-results.json (regenerated on 2026-10-09). Forecast MAPE is provided but R² is negative; fit is not adequate for claims of predictive value. Isolation Forest underperforms a simple rolling MAD baseline on recall and F1 in this holdout. Optimization feasibility is enforced by the same constraints being evaluated, so zero violations after gating is a software invariant, not an empirical safety result.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spoken pitch: “FinOptiX addresses a gap between seeing a cloud bill and safely changing it. It ingests usage and cost data, then compares multiple catalog-backed actions for each resource. The simulator uses measured history, checks peak and percentile constraints, and reports savings, utilization, heuristic risk, confidence and assumptions. The ranking makes the trade-off explicit instead of choosing savings alone. Our current experiments use reproducible synthetic data. Forecast and anomaly results expose meaningful weaknesses, so the work demonstrates a testable framework, not production efficacy. The next research step is replay against real workloads and validation against outcomes.”</a:t>
            </a:r>
          </a:p>
          <a:p xmlns:a="http://schemas.openxmlformats.org/drawingml/2006/main">
            <a:br/>
            <a:br/>
            <a:r>
              <a:t>Implemented source: backend/app/simulator.py; backend/app/core.py; backend/app/evaluation.py; backend/catalog/pricing_catalog.json; docs/evaluation-results.json; docs/project-report.md. Knowledge-source references used in application: AWS Well-Architected Cost Optimization COST06-BP03, https://docs.aws.amazon.com/wellarchitected/2023-10-03/framework/cost_type_size_number_resources_metrics.html ; Microsoft Azure Advisor cost recommendations, https://learn.microsoft.com/en-us/azure/advisor/advisor-cost-recommendations ; Google Cloud Well-Architected cost optimization, https://docs.cloud.google.com/architecture/framework/cost-optimization/optimize-resource-usage ; FinOps Framework, https://www.finops.org/framework/.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1c82514ff4b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1f6d1857f40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7d6a58c2643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db5f7bcf244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17981601b4b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efc7416ca43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FBCB96-BC91-4513-8CB0-90545C0DF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261A7E-0992-410D-BAFF-F145D71C70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3B5E03-AA61-494C-95C4-6DB4420F9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3D92B5-82E2-4A76-A848-B5A6A9C7F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C7D5B4-C2E8-4350-827C-DF18A8654E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EE9833-3F44-4693-B15D-84536DC42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C638CA-E552-494B-B4CF-984F85AA4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D64F80-6BBE-49A9-8915-F39EF8E768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0D4010-117E-46B2-97A4-5E0DF8416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FA644A-439B-4C72-9385-75770127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081b80162c40f4" /><Relationship Type="http://schemas.openxmlformats.org/officeDocument/2006/relationships/slideLayout" Target="/ppt/slideLayouts/slideLayout1.xml" Id="Ra4ebbdc749bd418c" /><Relationship Type="http://schemas.openxmlformats.org/officeDocument/2006/relationships/slideLayout" Target="/ppt/slideLayouts/slideLayout2.xml" Id="R8e90679a9d774c29" /><Relationship Type="http://schemas.openxmlformats.org/officeDocument/2006/relationships/slideLayout" Target="/ppt/slideLayouts/slideLayout3.xml" Id="R15629977d7c84aee" /><Relationship Type="http://schemas.openxmlformats.org/officeDocument/2006/relationships/slideLayout" Target="/ppt/slideLayouts/slideLayout4.xml" Id="R361c0f2254b248f8" /><Relationship Type="http://schemas.openxmlformats.org/officeDocument/2006/relationships/slideLayout" Target="/ppt/slideLayouts/slideLayout5.xml" Id="Re2621980df0c439b" /><Relationship Type="http://schemas.openxmlformats.org/officeDocument/2006/relationships/slideLayout" Target="/ppt/slideLayouts/slideLayout6.xml" Id="R30272cd197254f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bbdc749bd418c"/>
    <p:sldLayoutId xmlns:r="http://schemas.openxmlformats.org/officeDocument/2006/relationships" id="2147483650" r:id="R8e90679a9d774c29"/>
    <p:sldLayoutId xmlns:r="http://schemas.openxmlformats.org/officeDocument/2006/relationships" id="2147483651" r:id="R15629977d7c84aee"/>
    <p:sldLayoutId xmlns:r="http://schemas.openxmlformats.org/officeDocument/2006/relationships" id="2147483652" r:id="R361c0f2254b248f8"/>
    <p:sldLayoutId xmlns:r="http://schemas.openxmlformats.org/officeDocument/2006/relationships" id="2147483653" r:id="Re2621980df0c439b"/>
    <p:sldLayoutId xmlns:r="http://schemas.openxmlformats.org/officeDocument/2006/relationships" id="2147483654" r:id="R30272cd197254f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27d1ca84f434d" /><Relationship Type="http://schemas.openxmlformats.org/officeDocument/2006/relationships/notesSlide" Target="/ppt/notesSlides/notesSlide1.xml" Id="Rc5494908f4724c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eccf84a6c49f6" /><Relationship Type="http://schemas.openxmlformats.org/officeDocument/2006/relationships/notesSlide" Target="/ppt/notesSlides/notesSlide2.xml" Id="R5d1c02251161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86bf2efe64374" /><Relationship Type="http://schemas.openxmlformats.org/officeDocument/2006/relationships/notesSlide" Target="/ppt/notesSlides/notesSlide3.xml" Id="R524a5474cd8145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5f44e893347bb" /><Relationship Type="http://schemas.openxmlformats.org/officeDocument/2006/relationships/notesSlide" Target="/ppt/notesSlides/notesSlide4.xml" Id="Rc8aca70a27bf4f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b4b2fc4a84947" /><Relationship Type="http://schemas.openxmlformats.org/officeDocument/2006/relationships/notesSlide" Target="/ppt/notesSlides/notesSlide5.xml" Id="R9c233e3b14a0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54c1f5876e4053" /><Relationship Type="http://schemas.openxmlformats.org/officeDocument/2006/relationships/notesSlide" Target="/ppt/notesSlides/notesSlide6.xml" Id="R02cfc1a33e74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c806615cc4368" /><Relationship Type="http://schemas.openxmlformats.org/officeDocument/2006/relationships/notesSlide" Target="/ppt/notesSlides/notesSlide7.xml" Id="R9dc38258887446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3536E-FB6E-478C-BC75-C19842B0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DB2E3-026F-4C41-926B-CAF2DEEB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79E2D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9E2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9E2D6"/>
                </a:solidFill>
                <a:latin typeface="Helvetica Neue"/>
                <a:ea typeface="Helvetica Neue"/>
                <a:cs typeface="Helvetica Neue"/>
              </a:rPr>
              <a:t>FINOPTIX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AE2AD-ABB4-47E8-BFEF-DD15C803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8477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Explainable, risk-aware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6FCFF-5B2F-44E1-8C5B-AFE5389F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D4E1F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4E1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D4E1F0"/>
                </a:solidFill>
                <a:latin typeface="Helvetica Neue"/>
                <a:ea typeface="Helvetica Neue"/>
                <a:cs typeface="Helvetica Neue"/>
              </a:rPr>
              <a:t>Simulate the change before the cloud bill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95C10-A427-4AC9-B953-43EBB953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0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4F114-CE4A-4017-B454-D1EC2C5F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C3D2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3D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3D2E3"/>
                </a:solidFill>
                <a:latin typeface="Helvetica Neue"/>
                <a:ea typeface="Helvetica Neue"/>
                <a:cs typeface="Helvetica Neue"/>
              </a:rPr>
              <a:t>AWS  •  AZURE  •  GCP     |     WHAT-IF  •  RISK  • 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271C9-EAF8-45CD-8303-32BFC54D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C3D2E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3D2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3D2E3"/>
                </a:solidFill>
                <a:latin typeface="Helvetica Neue"/>
                <a:ea typeface="Helvetica Neue"/>
                <a:cs typeface="Helvetica Neue"/>
              </a:rPr>
              <a:t>B.Tech final-year project  |  Placement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DEC38-7191-415D-8065-A7E693DB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D3658"/>
          </a:solidFill>
          <a:ln xmlns:a="http://schemas.openxmlformats.org/drawingml/2006/main" w="9525">
            <a:solidFill>
              <a:srgbClr val="4660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35342-CCD0-406B-B596-594D7AC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79E2D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9E2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79E2D6"/>
                </a:solidFill>
                <a:latin typeface="Helvetica Neue"/>
                <a:ea typeface="Helvetica Neue"/>
                <a:cs typeface="Helvetica Neue"/>
              </a:rPr>
              <a:t>SAVE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0FFA3-5422-4C49-8FDE-80D6B3D7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8B7A5-C1F1-4319-94E7-558561D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0992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WITHOUT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BLIND RISK</a:t>
            </a:r>
          </a:p>
        </p:txBody>
      </p:sp>
    </p:spTree>
    <p:extLst>
      <p:ext uri="{BB962C8B-B14F-4D97-AF65-F5344CB8AC3E}">
        <p14:creationId xmlns:p14="http://schemas.microsoft.com/office/powerpoint/2010/main" val="1178203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BF43F-F2AB-4106-AEB0-1B07B841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01  • 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F6E70-53C9-40DF-B7D6-509FFBB3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Cost savings alone can make a risky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7FA5E-6571-4177-B1AE-096391E4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6D700-76C3-4BFD-8909-AF316A0B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FINOPTIX  •  FINAL-YEAR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27D43-E29E-4733-8F2E-4977A257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5F3D9-03D8-4A34-8EA8-AA25B4B0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2B857-FACD-400B-9888-A8C513F9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3DCB3-622F-4150-965D-0B98986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decision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0456E-2147-4804-BF0E-873B56C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933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Dashboards identify spend. A cost-only rank can favor the largest saving even when workload peaks make the change unsafe.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BB628-A641-492E-926E-F36D463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5210A-A4EE-4CDA-AA93-4F2A69D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1D8AD-C148-4C57-9CBC-7125F892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72918-4D95-4E33-8A3B-D47969E0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14550"/>
            <a:ext cx="2933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Can a risk-aware what-if framework find savings opportunities while minimizing performance and operational risk?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98E77-187C-4C20-ADCD-30C8275A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BC083-418F-4F13-AD03-E5BAD47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8A394-3EA7-4815-A8F3-3AE6381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Project contribution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533C8-AAD5-4D54-ACDB-75F4164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33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Compare feasible actions before implementation using measured usage, explicit pricing assumptions, constraints, risk and evidence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9C34A-AEF4-4619-8C36-681E74B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Same held-out candidate set • illustrative INR catalog • 15 feasible alternatives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609AE-84AC-46FB-9AF0-2F833DFA5E51}"/>
              </a:ext>
            </a:extLst>
          </p:cNvPr>
          <p:cNvGraphicFramePr/>
          <p:nvPr/>
        </p:nvGraphicFramePr>
        <p:xfrm>
          <a:off xmlns:a="http://schemas.openxmlformats.org/drawingml/2006/main" x="609600" y="4257675"/>
          <a:ext xmlns:a="http://schemas.openxmlformats.org/drawingml/2006/main" cx="10972800" cy="1600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Ranking lens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 alternative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Monthly saving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 outcome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Savings-only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AZURE-104 • shutdown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₹8,461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 1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Risk-aware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EC2-118 • storage resize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₹5,421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 1; savings rank 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4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E9A208-1FC3-42C7-A796-7D0E510A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02  • 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B3738-0956-48AE-AB76-C8BF187B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One analytics path from usage evidence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E1102-D2EB-4181-9BE2-7E9D6B4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3EC27-D94F-4889-BB3E-0E05B2C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FINOPTIX  •  FINAL-YEAR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B895D-55FB-4A45-BE73-31B54816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61BAC-A72E-4AB8-8112-A3FC2239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695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059EA-BF32-410B-972A-19F6FF0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7816C-731A-451C-BADD-5C548AA7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336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17F03-CF4E-44C0-977E-BCFCC3CA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57500"/>
            <a:ext cx="144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Synthetic or CSV</a:t>
            </a:r>
          </a:p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provider billing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2C1B8-6FE6-41E0-B865-8A95ED3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194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EF39C-9A4C-4BF1-A721-9C5A130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24100"/>
            <a:ext cx="1695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24ABB-06DC-4D4C-A64C-7C73C881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241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A3A94-12C1-4577-906E-A01835A3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87F0B-8CFD-48D1-9EC8-CD77243F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144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Validate • normalize</a:t>
            </a:r>
          </a:p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AAA9F-5D87-49E0-A149-5434FFC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194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21E99-FCA2-423E-8AA2-1993CD9C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1695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4798B-F19F-432C-B387-192334F3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F2543-7314-43D6-A143-3833160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336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PERSIST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FC025-A3C0-43A9-9403-639AA45C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57500"/>
            <a:ext cx="144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resources +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4CFC7-EB97-41A9-8674-06A41DB2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194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DE973-F2D8-424C-BDAB-6D0996F4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24100"/>
            <a:ext cx="1695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61FBB-7501-44AB-AB34-A795E549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241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EEE7C-5B27-418D-809F-8DCFBE4A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91698-EC9F-4EB3-8FB3-064ADC45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144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Forecast • detect</a:t>
            </a:r>
          </a:p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explain cost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E4663-2C15-467E-A7E1-86BDE586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194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A2B65-21D9-4B56-A245-9F6ECA8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1695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9F086-B9F6-480C-BA7E-00A39AEC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5ADBF-ACC9-4ADB-9B8B-E45A01E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336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9B2A9-B839-4E63-8C3D-CD192441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57500"/>
            <a:ext cx="144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Catalog simulator</a:t>
            </a:r>
          </a:p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risk + 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C45EE-08DB-402A-B430-96DDC92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194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4C2C3E-337F-4221-BF86-E23699CC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324100"/>
            <a:ext cx="16954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D1521-3BB5-4536-822A-F9F70B69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32410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9314F-38A8-4303-B435-7446C5A7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336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C0C3B-8254-4E81-93AD-78CA0900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44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FastAPI → React</a:t>
            </a:r>
          </a:p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Copilot + RAG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C1D83-911B-44A8-808E-B899ACA5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3381375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CA4216-01EB-466F-9A7A-466F8BF4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1E62B4-C0D5-462A-85BB-39FD7C6C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624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API and persistence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C6FE51-EC07-4A1D-843F-7ED9556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24400"/>
            <a:ext cx="2981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FastAPI endpoints share the analytics and simulator functions. PostgreSQL reads after restart; CSV remains a demo import.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4CBDE3-C0D4-4302-B43D-61926087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3381375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7A3863-F945-45CA-AB10-397D31A1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3ABA24-A09D-4D47-AAA7-D531EF01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624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422B5B-DD43-426A-B62A-C46D742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24400"/>
            <a:ext cx="2981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Hard constraints reject infeasible actions. Ranking compares feasible alternatives; it does not apply changes to cloud accounts.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365771-2E6A-4D54-9F51-C28E24F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91000"/>
            <a:ext cx="3381375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BD858A-B124-4F02-B1B1-1CFCA52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910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7E441F-04BE-4BD6-8998-1D3082E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624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Assistant split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00D569-5D37-442E-BF66-8DD54F77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24400"/>
            <a:ext cx="2981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Structured analytics uses backend results. Knowledge mode retrieves local source-indexed documentation with references.</a:t>
            </a:r>
          </a:p>
        </p:txBody>
      </p:sp>
    </p:spTree>
    <p:extLst>
      <p:ext uri="{BB962C8B-B14F-4D97-AF65-F5344CB8AC3E}">
        <p14:creationId xmlns:p14="http://schemas.microsoft.com/office/powerpoint/2010/main" val="2028782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8E8E2-4712-4CBA-B8AD-F48D2DE6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03  •  CENTRAL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83292-CE38-4893-8D2F-1C14DBA0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Compare actions with workload evidence—not fixed multipliers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FABC5-E73E-4BF7-9667-12BE5A75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ADAC5-7882-4AC1-ADDC-A49BC5CE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FINOPTIX  •  FINAL-YEAR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7D6A7-1CBD-476C-B3E3-0EC7E941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185C0-7F63-4D3A-847E-2E92195B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 resource can produce several feasible or rejected alternatives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79FDD-DA89-4A84-9FE5-759DE594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71675" cy="21431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46101-E4BB-483C-BA98-25C9A22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66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6530C-202D-4352-B778-6323004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24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FA0B-A738-4ACC-B973-2F751DC1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384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87AA1-B3D6-47DF-B4FD-0E017E45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19450"/>
            <a:ext cx="167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Resource history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CPU • memory • runtime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storage •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9C0A6-3D00-4441-A528-6D9FD6B1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25C07-9DF6-43A6-841A-C3120AB5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971675" cy="21431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C6429-FE4D-43E2-994E-E835D2EE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66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3EF1C-1BD3-42F1-9460-FB72D282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B18B1-C1F9-42CA-B077-614ABC4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10171-8CEF-42A4-B848-F6035147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67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Provider + region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service + SKU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illustrative hourly rates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A4110-6092-4423-BC19-69140E73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C1551-B20F-4CFB-AF7E-81031BE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971675" cy="21431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7F0A0-C2D2-4FDD-BFBA-E42A89BF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66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EBB9F-BCCF-4FFD-B209-F25B057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24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6E402-31D2-4C6D-A2D9-C8C00C5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384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SIMULATE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1713D-3796-461F-9A12-14A5399D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19450"/>
            <a:ext cx="167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Resize • schedule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storage reduction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capacity approximation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58B0D-B48E-4358-8A41-D52E15B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50E1B-DCE7-4A26-833E-4EB09B8B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95500"/>
            <a:ext cx="1971675" cy="21431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81A94-0227-4E6A-A39C-1B85E553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81A66-F360-4A74-BB9E-900F455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A160B-5C9B-46A0-89D1-AABB9489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AD6DE-E0E5-4DCA-90B9-43C50C14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167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Peak/p95 limits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minimum runtime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invalid transitions rejected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D95FF-7CDC-40B5-8956-67B83D6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5119E7-62FA-4F11-A278-043DEF61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95500"/>
            <a:ext cx="1971675" cy="2143125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24F11-44CB-43DA-9484-5FAC15C0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66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4AE6E4-6252-4A6F-87DE-1EBA92C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24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644A3-71E2-4C45-B0FC-7C10D8B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384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05AB92-D9F7-4891-990B-042CA0D3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19450"/>
            <a:ext cx="1676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Cost delta • savings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utilization • risk</a:t>
            </a:r>
          </a:p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confidence + assumptions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B60264-8D78-441C-BAEF-3178CB1A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7F3F3"/>
          </a:solidFill>
          <a:ln xmlns:a="http://schemas.openxmlformats.org/drawingml/2006/main" w="9525">
            <a:solidFill>
              <a:srgbClr val="C3E5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BFB924-8DA8-4340-A99F-7AB12773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Capacity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55DE6-E660-4C7B-B46C-A216372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1012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Expected utilization scales by old capacity ÷ proposed capacity; CPU and memory are modeled separately. Peak constraints and variability add risk. Ratios are approximations—not workload replay or a guarantee.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8A361F-9E7E-42F0-8468-5E65864E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Prices are reproducible catalog assumptions in INR—not current provider quotations.</a:t>
            </a:r>
          </a:p>
        </p:txBody>
      </p:sp>
    </p:spTree>
    <p:extLst>
      <p:ext uri="{BB962C8B-B14F-4D97-AF65-F5344CB8AC3E}">
        <p14:creationId xmlns:p14="http://schemas.microsoft.com/office/powerpoint/2010/main" val="474579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5573B-A7A6-464C-B513-1E1BA5E4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04  •  DECISION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3D56E-92A6-4B0A-A053-9CE4D98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Risk is a heuristic, with hard feasibility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DB7CA-F7C9-4C2B-9486-BCD18EDD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1B64-075B-49C6-AF1C-896B3D21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FINOPTIX  •  FINAL-YEAR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3283B-C9A7-4103-887F-3A6AA697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65E59-D747-41AC-B682-C57EDC8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143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187EE-09A4-4BC6-85AE-11B37724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E00EA-CFA1-42F9-A22E-ACD8136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Risk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415FC-86E6-4B91-8836-ABF9436D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43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0.45 × performance pressure + 0.25 × workload variability + 0.30 × resource criticality. Each component is scaled to 0–100; thresholds are catalog-configurable.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67273-B5D7-48D1-AF18-F3534E4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3911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60388-AF58-4A69-A37B-61EFED3B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B71BA-2E93-4BEA-A6B7-79436CA5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716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Confidence ≠ success probability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6E0D6-06CC-4AF2-8627-63A365C6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4991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Evidence quality combines observation count, history coverage, stability, action consistency, peak metric availability and pricing reliability. Insufficient history is surfaced explicitly.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37776-CB8A-4925-9EC5-961DBD9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Risk-aware ranking 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4C0F7-B80B-4DF4-9D50-076D55F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3AC36-1A99-48F0-B5F6-3B25E68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243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Score = 100 × [0.45 × savings/current cost + 0.10 × independent evidence quality − 0.45 × (risk/100)²]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DEB6A-EFBC-491A-B681-0F4CFE6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9112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Evidence quality excludes stability/action-fit already represented in risk. Hard performance violations are rejected before ranking.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20550-A3BF-4618-9256-53CA48D7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Illustrative held-out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7A994-18F8-43A4-A5FC-FF24E4F5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72125"/>
            <a:ext cx="800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Highest saving: AZURE-104 shutdown  ₹8,461/month  |  Risk-aware leader: EC2-118 storage resize  ₹5,421/month</a:t>
            </a:r>
          </a:p>
        </p:txBody>
      </p:sp>
    </p:spTree>
    <p:extLst>
      <p:ext uri="{BB962C8B-B14F-4D97-AF65-F5344CB8AC3E}">
        <p14:creationId xmlns:p14="http://schemas.microsoft.com/office/powerpoint/2010/main" val="1244419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DAAFB-C544-451C-A48F-7357D92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05  •  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85A3F-8029-40FF-987D-436D87F4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Synthetic holdout tests mechanics—not production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85B2F-6F12-4BA4-A034-CD69AC9B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A3DB8-3FBB-4333-85E1-8FF26B7D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FINOPTIX  •  FINAL-YEAR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12080-3E5D-41DD-8A9B-C2E8DA0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BC068-8F08-4469-80B3-9A7975E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Two deterministic populations • separate seeds and scenario offsets • 20 resources × 169 daily records each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CA7C5-0751-4C5E-9870-83E34FFACA1E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6172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/ split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Held-out result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Forecast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Time-based holdout • RandomForest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 ₹2,084 • RMSE ₹4,473</a:t>
                      </a:r>
                    </a:p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MAPE 8.02% • R² −0.052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 fit; seasonal naïve MAE ₹2,126</a:t>
                      </a:r>
                    </a:p>
                  </a:txBody>
                  <a:tcPr marL="91440" marR="91440" marT="45720" marB="45720"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Anomaly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Isolation Forest vs rolling MAD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IF F1 0.222 • recall 0.167</a:t>
                      </a:r>
                    </a:p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MAD F1 0.324 • recall 1.000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IF misses most labeled spikes</a:t>
                      </a:r>
                    </a:p>
                  </a:txBody>
                  <a:tcPr marL="91440" marR="91440" marT="45720" marB="45720"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Optimization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resources • hard-gated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feasible • 22 rejected</a:t>
                      </a:r>
                    </a:p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₹17,468/month potential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Synthetic label precision 0.75</a:t>
                      </a:r>
                    </a:p>
                  </a:txBody>
                  <a:tcPr marL="91440" marR="91440" marT="45720" marB="45720"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15 feasible candidates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 choice changes</a:t>
                      </a:r>
                    </a:p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₹8,461 → ₹5,421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20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Risk-aware rank avoids a higher-risk top option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D77A6-E320-4005-A359-AE362E21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C43D4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43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8"/>
                </a:solidFill>
                <a:latin typeface="Helvetica Neue"/>
                <a:ea typeface="Helvetica Neue"/>
                <a:cs typeface="Helvetica Neue"/>
              </a:rPr>
              <a:t>Limitations: only six labeled anomaly rows in the 720-row test window; synthetic labels and assumed pricing; no production workload replay or realized savings.</a:t>
            </a:r>
          </a:p>
        </p:txBody>
      </p:sp>
    </p:spTree>
    <p:extLst>
      <p:ext uri="{BB962C8B-B14F-4D97-AF65-F5344CB8AC3E}">
        <p14:creationId xmlns:p14="http://schemas.microsoft.com/office/powerpoint/2010/main" val="1197702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093AA-1623-4898-9417-99F4A2F2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06  • 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27948-6EF3-421F-ADAB-D85C051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placement demo: trace every estimate back 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A6B04-4D7B-45E7-B7EF-F1349A36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D521A-CDDE-460B-87C4-1644257E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FINOPTIX  •  FINAL-YEAR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5298D-3849-41E9-8345-98CE142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3627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4019E-CD33-4F18-9891-5A843CC7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96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37D01-2FC8-40AE-AF08-6A26486E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240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  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B083C-94FC-4277-85CA-760C98B9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Import demo CSV; inspect provider, service, region and resource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7080B-98E8-4115-8A33-875449DF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10896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FC629-2167-49A9-A6C3-1A3A01A3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  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E6C57-17D5-469E-B317-2D590855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Open an anomaly and see measured cost, runtime and resource-count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BA03F-A9EC-4392-B9F1-16826A28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62300"/>
            <a:ext cx="10896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1849D-C2AB-4789-B653-2A6DC6A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03  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406F9-88E1-4CE9-B2A7-85918C5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Select a resource; compare resize, schedule and storage alternatives side by side.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D7644-B153-4321-A410-FE093C4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62400"/>
            <a:ext cx="10896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8BC44-6D4C-438C-8F8B-0557AADE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243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72356-3E61-4638-9929-4DEE61C9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767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Check constraints, assumptions, risk, confidence and both ranking methods.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9BBA-A4EB-443C-B942-1295317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108966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94456-B1D6-4E30-917C-32AEBF1F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44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05 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1AB33-6E4C-4EB6-B51B-6F4F58C8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42033"/>
                </a:solidFill>
                <a:latin typeface="Helvetica Neue"/>
                <a:ea typeface="Helvetica Neue"/>
                <a:cs typeface="Helvetica Neue"/>
              </a:rPr>
              <a:t>Use analytics Copilot for database-backed numbers; knowledge mode returns source references.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6BA4F-3228-4A07-8355-797829AE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A5A4"/>
                </a:solidFill>
                <a:latin typeface="Helvetica Neue"/>
                <a:ea typeface="Helvetica Neue"/>
                <a:cs typeface="Helvetica Neue"/>
              </a:rPr>
              <a:t>Two-minute pitch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1EBBD-938B-4B72-9EB9-D6A21CBC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388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FinOptiX turns cost observations into explainable choices: it estimates the financial upside, tests workload constraints, makes uncertainty visible, and lets teams compare safer alternatives before acting.</a:t>
            </a:r>
          </a:p>
        </p:txBody>
      </p:sp>
    </p:spTree>
    <p:extLst>
      <p:ext uri="{BB962C8B-B14F-4D97-AF65-F5344CB8AC3E}">
        <p14:creationId xmlns:p14="http://schemas.microsoft.com/office/powerpoint/2010/main" val="339653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2026-10-09T16:51:15.2130000Z</dcterms:created>
  <dcterms:modified xsi:type="dcterms:W3CDTF">2026-10-09T16:51:15.2130000Z</dcterms:modified>
</coreProperties>
</file>